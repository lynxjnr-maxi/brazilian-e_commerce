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Jan 2017</c:v>
                </c:pt>
                <c:pt idx="1">
                  <c:v>Feb 2017</c:v>
                </c:pt>
                <c:pt idx="2">
                  <c:v>Mar 2017</c:v>
                </c:pt>
                <c:pt idx="3">
                  <c:v>Apr 2017</c:v>
                </c:pt>
                <c:pt idx="4">
                  <c:v>May 2017</c:v>
                </c:pt>
                <c:pt idx="5">
                  <c:v>Jun 2017</c:v>
                </c:pt>
                <c:pt idx="6">
                  <c:v>Jul 2017</c:v>
                </c:pt>
                <c:pt idx="7">
                  <c:v>Aug 2017</c:v>
                </c:pt>
                <c:pt idx="8">
                  <c:v>Sep 2017</c:v>
                </c:pt>
                <c:pt idx="9">
                  <c:v>Oct 2017</c:v>
                </c:pt>
                <c:pt idx="10">
                  <c:v>Nov 2017</c:v>
                </c:pt>
                <c:pt idx="11">
                  <c:v>Dec 2017</c:v>
                </c:pt>
                <c:pt idx="12">
                  <c:v>Jan 2018</c:v>
                </c:pt>
                <c:pt idx="13">
                  <c:v>Feb 2018</c:v>
                </c:pt>
                <c:pt idx="14">
                  <c:v>Mar 2018</c:v>
                </c:pt>
                <c:pt idx="15">
                  <c:v>Apr 2018</c:v>
                </c:pt>
                <c:pt idx="16">
                  <c:v>May 2018</c:v>
                </c:pt>
                <c:pt idx="17">
                  <c:v>Jun 2018</c:v>
                </c:pt>
                <c:pt idx="18">
                  <c:v>Jul 2018</c:v>
                </c:pt>
                <c:pt idx="19">
                  <c:v>Aug 2018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138488</c:v>
                </c:pt>
                <c:pt idx="1">
                  <c:v>291908</c:v>
                </c:pt>
                <c:pt idx="2">
                  <c:v>449864</c:v>
                </c:pt>
                <c:pt idx="3">
                  <c:v>417788</c:v>
                </c:pt>
                <c:pt idx="4">
                  <c:v>592919</c:v>
                </c:pt>
                <c:pt idx="5">
                  <c:v>511276</c:v>
                </c:pt>
                <c:pt idx="6">
                  <c:v>592383</c:v>
                </c:pt>
                <c:pt idx="7">
                  <c:v>674396</c:v>
                </c:pt>
                <c:pt idx="8">
                  <c:v>727762</c:v>
                </c:pt>
                <c:pt idx="9">
                  <c:v>779678</c:v>
                </c:pt>
                <c:pt idx="10">
                  <c:v>1194883</c:v>
                </c:pt>
                <c:pt idx="11">
                  <c:v>878401</c:v>
                </c:pt>
                <c:pt idx="12">
                  <c:v>1115004</c:v>
                </c:pt>
                <c:pt idx="13">
                  <c:v>992463</c:v>
                </c:pt>
                <c:pt idx="14">
                  <c:v>1159652</c:v>
                </c:pt>
                <c:pt idx="15">
                  <c:v>1160785</c:v>
                </c:pt>
                <c:pt idx="16">
                  <c:v>1153982</c:v>
                </c:pt>
                <c:pt idx="17">
                  <c:v>1023880</c:v>
                </c:pt>
                <c:pt idx="18">
                  <c:v>1066541</c:v>
                </c:pt>
                <c:pt idx="19">
                  <c:v>1022425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4734554"/>
        <c:axId val="2094734552"/>
      </c:barChart>
      <c:lineChart>
        <c:grouping val="none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Sheet1!$A$2:$A$21</c:f>
              <c:strCache>
                <c:ptCount val="20"/>
                <c:pt idx="0">
                  <c:v>Jan 2017</c:v>
                </c:pt>
                <c:pt idx="1">
                  <c:v>Feb 2017</c:v>
                </c:pt>
                <c:pt idx="2">
                  <c:v>Mar 2017</c:v>
                </c:pt>
                <c:pt idx="3">
                  <c:v>Apr 2017</c:v>
                </c:pt>
                <c:pt idx="4">
                  <c:v>May 2017</c:v>
                </c:pt>
                <c:pt idx="5">
                  <c:v>Jun 2017</c:v>
                </c:pt>
                <c:pt idx="6">
                  <c:v>Jul 2017</c:v>
                </c:pt>
                <c:pt idx="7">
                  <c:v>Aug 2017</c:v>
                </c:pt>
                <c:pt idx="8">
                  <c:v>Sep 2017</c:v>
                </c:pt>
                <c:pt idx="9">
                  <c:v>Oct 2017</c:v>
                </c:pt>
                <c:pt idx="10">
                  <c:v>Nov 2017</c:v>
                </c:pt>
                <c:pt idx="11">
                  <c:v>Dec 2017</c:v>
                </c:pt>
                <c:pt idx="12">
                  <c:v>Jan 2018</c:v>
                </c:pt>
                <c:pt idx="13">
                  <c:v>Feb 2018</c:v>
                </c:pt>
                <c:pt idx="14">
                  <c:v>Mar 2018</c:v>
                </c:pt>
                <c:pt idx="15">
                  <c:v>Apr 2018</c:v>
                </c:pt>
                <c:pt idx="16">
                  <c:v>May 2018</c:v>
                </c:pt>
                <c:pt idx="17">
                  <c:v>Jun 2018</c:v>
                </c:pt>
                <c:pt idx="18">
                  <c:v>Jul 2018</c:v>
                </c:pt>
                <c:pt idx="19">
                  <c:v>Aug 2018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800</c:v>
                </c:pt>
                <c:pt idx="1">
                  <c:v>1780</c:v>
                </c:pt>
                <c:pt idx="2">
                  <c:v>2682</c:v>
                </c:pt>
                <c:pt idx="3">
                  <c:v>2404</c:v>
                </c:pt>
                <c:pt idx="4">
                  <c:v>3700</c:v>
                </c:pt>
                <c:pt idx="5">
                  <c:v>3245</c:v>
                </c:pt>
                <c:pt idx="6">
                  <c:v>4026</c:v>
                </c:pt>
                <c:pt idx="7">
                  <c:v>4331</c:v>
                </c:pt>
                <c:pt idx="8">
                  <c:v>4285</c:v>
                </c:pt>
                <c:pt idx="9">
                  <c:v>4631</c:v>
                </c:pt>
                <c:pt idx="10">
                  <c:v>7544</c:v>
                </c:pt>
                <c:pt idx="11">
                  <c:v>5673</c:v>
                </c:pt>
                <c:pt idx="12">
                  <c:v>7269</c:v>
                </c:pt>
                <c:pt idx="13">
                  <c:v>6728</c:v>
                </c:pt>
                <c:pt idx="14">
                  <c:v>7211</c:v>
                </c:pt>
                <c:pt idx="15">
                  <c:v>6939</c:v>
                </c:pt>
                <c:pt idx="16">
                  <c:v>6873</c:v>
                </c:pt>
                <c:pt idx="17">
                  <c:v>6167</c:v>
                </c:pt>
                <c:pt idx="18">
                  <c:v>6292</c:v>
                </c:pt>
                <c:pt idx="19">
                  <c:v>6512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Revenue (R$)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#,##0,,&quot;M&quot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txPr>
          <a:bodyPr rot="27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r"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Orders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94734555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c5ea56b-a129-4d39-a7cd-38277a00efb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455B"/>
              </a:solidFill>
              <a:effectLst/>
            </c:spPr>
          </c:dPt>
          <c:dLbls>
            <c:numFmt formatCode="#,##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baseline="0">
                    <a:solidFill>
                      <a:srgbClr val="0B1F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Sports,
 Toys &amp;
Leisure</c:v>
                </c:pt>
                <c:pt idx="1">
                  <c:v>Home &amp;
Furniture</c:v>
                </c:pt>
                <c:pt idx="2">
                  <c:v>Electronics &amp;
Technology</c:v>
                </c:pt>
                <c:pt idx="3">
                  <c:v>Construction tools ,
arts &amp;
Others</c:v>
                </c:pt>
                <c:pt idx="4">
                  <c:v>Beauty &amp;
Personal Care</c:v>
                </c:pt>
                <c:pt idx="5">
                  <c:v>Fashion &amp;
Accessories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1578156</c:v>
                </c:pt>
                <c:pt idx="1">
                  <c:v>1266117</c:v>
                </c:pt>
                <c:pt idx="2">
                  <c:v>933878</c:v>
                </c:pt>
                <c:pt idx="3">
                  <c:v>815418</c:v>
                </c:pt>
                <c:pt idx="4">
                  <c:v>530062</c:v>
                </c:pt>
                <c:pt idx="5">
                  <c:v>171971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4b006f7-abf9-4073-9141-b4bc4690c06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F4E8C"/>
              </a:solidFill>
              <a:effectLst/>
            </c:spPr>
          </c:dPt>
          <c:dPt>
            <c:idx val="1"/>
            <c:bubble3D val="0"/>
            <c:spPr>
              <a:solidFill>
                <a:srgbClr val="29B6D8"/>
              </a:solidFill>
              <a:effectLst/>
            </c:spPr>
          </c:dPt>
          <c:dPt>
            <c:idx val="2"/>
            <c:bubble3D val="0"/>
            <c:spPr>
              <a:solidFill>
                <a:srgbClr val="C0455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In Our Books
(Delivered)</c:v>
                </c:pt>
                <c:pt idx="1">
                  <c:v>Projected Earnings
(In Progress)</c:v>
                </c:pt>
                <c:pt idx="2">
                  <c:v>Canceled /
Unavailable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15422462</c:v>
                </c:pt>
                <c:pt idx="1">
                  <c:v>316675</c:v>
                </c:pt>
                <c:pt idx="2">
                  <c:v>269735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16213E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11334b9-2889-4139-ad61-42a74a3402b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rgbClr val="0B1F3A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400" b="1" i="0" u="none" strike="noStrike">
                <a:solidFill>
                  <a:srgbClr val="0B1F3A"/>
                </a:solidFill>
                <a:latin typeface="Calibri" panose="020F0502020204030204"/>
              </a:rPr>
              <a:t>By Year</a:t>
            </a:r>
            <a:endParaRPr sz="1400" b="1" i="0" u="none" strike="noStrike">
              <a:solidFill>
                <a:srgbClr val="0B1F3A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 Our Books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46586</c:v>
                </c:pt>
                <c:pt idx="1">
                  <c:v>6922900</c:v>
                </c:pt>
                <c:pt idx="2">
                  <c:v>8452975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Earnings</c:v>
                </c:pt>
              </c:strCache>
            </c:strRef>
          </c:tx>
          <c:spPr>
            <a:solidFill>
              <a:srgbClr val="29B6D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5227</c:v>
                </c:pt>
                <c:pt idx="1">
                  <c:v>169591</c:v>
                </c:pt>
                <c:pt idx="2">
                  <c:v>141857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Canceled / Unavailable</c:v>
                </c:pt>
              </c:strCache>
            </c:strRef>
          </c:tx>
          <c:spPr>
            <a:solidFill>
              <a:srgbClr val="C0455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7549</c:v>
                </c:pt>
                <c:pt idx="1">
                  <c:v>157255</c:v>
                </c:pt>
                <c:pt idx="2">
                  <c:v>104931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16213E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183f0b0-cc5e-4965-876c-a11e4bde4d9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9B6D8"/>
            </a:solidFill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0B1F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Guariba
(1 seller)</c:v>
                </c:pt>
                <c:pt idx="1">
                  <c:v>Lauro De Freitas
(2 sellers)</c:v>
                </c:pt>
                <c:pt idx="2">
                  <c:v>Sumare
(5 sellers)</c:v>
                </c:pt>
                <c:pt idx="3">
                  <c:v>Ilicinea
(1 seller)</c:v>
                </c:pt>
                <c:pt idx="4">
                  <c:v>Santa Barbara D´Oeste
(2 sellers)</c:v>
                </c:pt>
                <c:pt idx="5">
                  <c:v>Campo Limpo Paulista
(2 sellers)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494690</c:v>
                </c:pt>
                <c:pt idx="1">
                  <c:v>442718</c:v>
                </c:pt>
                <c:pt idx="2">
                  <c:v>411291</c:v>
                </c:pt>
                <c:pt idx="3">
                  <c:v>252951</c:v>
                </c:pt>
                <c:pt idx="4">
                  <c:v>246754</c:v>
                </c:pt>
                <c:pt idx="5">
                  <c:v>237792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d99f75d-5a0a-413f-b00a-e240e14d673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50" b="1" i="0" u="none" strike="noStrike" kern="1200" baseline="0">
                <a:solidFill>
                  <a:srgbClr val="0B1F3A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50" b="1" i="0" u="none" strike="noStrike">
                <a:solidFill>
                  <a:srgbClr val="0B1F3A"/>
                </a:solidFill>
                <a:latin typeface="Calibri" panose="020F0502020204030204"/>
              </a:rPr>
              <a:t>Customers by Number of Orders Placed</a:t>
            </a:r>
            <a:endParaRPr sz="1350" b="1" i="0" u="none" strike="noStrike">
              <a:solidFill>
                <a:srgbClr val="0B1F3A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E6FB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B1F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1 order</c:v>
                </c:pt>
                <c:pt idx="1">
                  <c:v>2 orders</c:v>
                </c:pt>
                <c:pt idx="2">
                  <c:v>3 orders</c:v>
                </c:pt>
                <c:pt idx="3">
                  <c:v>4 orders</c:v>
                </c:pt>
                <c:pt idx="4">
                  <c:v>5+ orders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93098</c:v>
                </c:pt>
                <c:pt idx="1">
                  <c:v>2745</c:v>
                </c:pt>
                <c:pt idx="2">
                  <c:v>203</c:v>
                </c:pt>
                <c:pt idx="3">
                  <c:v>30</c:v>
                </c:pt>
                <c:pt idx="4">
                  <c:v>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32f7beb-eb32-4b04-b7c1-fc809945d43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C0455B"/>
              </a:solidFill>
              <a:effectLst/>
            </c:spPr>
          </c:dPt>
          <c:dPt>
            <c:idx val="1"/>
            <c:bubble3D val="0"/>
            <c:spPr>
              <a:solidFill>
                <a:srgbClr val="E8B84B"/>
              </a:solidFill>
              <a:effectLst/>
            </c:spPr>
          </c:dPt>
          <c:dPt>
            <c:idx val="2"/>
            <c:bubble3D val="0"/>
            <c:spPr>
              <a:solidFill>
                <a:srgbClr val="1F4E8C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 (1-2★)</c:v>
                </c:pt>
                <c:pt idx="1">
                  <c:v>Neutral (3★)</c:v>
                </c:pt>
                <c:pt idx="2">
                  <c:v>Positive (4-5★)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14575</c:v>
                </c:pt>
                <c:pt idx="1">
                  <c:v>8179</c:v>
                </c:pt>
                <c:pt idx="2">
                  <c:v>76470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16213E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40c645e-ef61-42b1-996a-b8d847034ad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2E6FB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50" b="1" i="0" u="none" strike="noStrike" kern="1200" baseline="0">
                    <a:solidFill>
                      <a:srgbClr val="0B1F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Only
one year</c:v>
                </c:pt>
                <c:pt idx="1">
                  <c:v>Last two
years</c:v>
                </c:pt>
                <c:pt idx="2">
                  <c:v>First two
years</c:v>
                </c:pt>
                <c:pt idx="3">
                  <c:v>First &amp;
last year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27755</c:v>
                </c:pt>
                <c:pt idx="1">
                  <c:v>4922</c:v>
                </c:pt>
                <c:pt idx="2">
                  <c:v>99</c:v>
                </c:pt>
                <c:pt idx="3">
                  <c:v>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71b49bf-0e3b-44b5-bb36-05b8680ad7e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</c:v>
                </c:pt>
              </c:strCache>
            </c:strRef>
          </c:tx>
          <c:spPr>
            <a:effectLst/>
          </c:spPr>
          <c:marker>
            <c:symbol val="none"/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~2 days</c:v>
                </c:pt>
                <c:pt idx="1">
                  <c:v>4 days</c:v>
                </c:pt>
                <c:pt idx="2">
                  <c:v>1 week</c:v>
                </c:pt>
                <c:pt idx="3">
                  <c:v>2 weeks</c:v>
                </c:pt>
                <c:pt idx="4">
                  <c:v>1 month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4.38</c:v>
                </c:pt>
                <c:pt idx="1">
                  <c:v>4.35</c:v>
                </c:pt>
                <c:pt idx="2">
                  <c:v>4.33</c:v>
                </c:pt>
                <c:pt idx="3">
                  <c:v>4.25</c:v>
                </c:pt>
                <c:pt idx="4">
                  <c:v>3.55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152b14b-de35-4dcb-9636-90ba0366294a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</c:v>
                </c:pt>
              </c:strCache>
            </c:strRef>
          </c:tx>
          <c:spPr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&lt;12 hrs</c:v>
                </c:pt>
                <c:pt idx="1">
                  <c:v>12-24 hrs</c:v>
                </c:pt>
                <c:pt idx="2">
                  <c:v>24-48 hrs</c:v>
                </c:pt>
                <c:pt idx="3">
                  <c:v>&gt;2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</c:v>
                </c:pt>
                <c:pt idx="1">
                  <c:v>4.09</c:v>
                </c:pt>
                <c:pt idx="2">
                  <c:v>4.05</c:v>
                </c:pt>
                <c:pt idx="3">
                  <c:v>4.01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8d7815c-feaa-497e-b6c4-0906a0f9809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Cancelled Orders</c:v>
                </c:pt>
              </c:strCache>
            </c:strRef>
          </c:tx>
          <c:spPr>
            <a:solidFill>
              <a:srgbClr val="2E6FB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0B1F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credit card</c:v>
                </c:pt>
                <c:pt idx="1">
                  <c:v>voucher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444</c:v>
                </c:pt>
                <c:pt idx="1">
                  <c:v>189</c:v>
                </c:pt>
                <c:pt idx="2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5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05518e6-e270-4bf0-8fd1-dedbbf9df15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C045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0B1F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credit card</c:v>
                </c:pt>
                <c:pt idx="1">
                  <c:v>voucher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5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c1a28ce-18da-45da-80aa-6108d411f8d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Payments per Order</c:v>
                </c:pt>
              </c:strCache>
            </c:strRef>
          </c:tx>
          <c:spPr>
            <a:solidFill>
              <a:srgbClr val="29B6D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1" i="0" u="none" strike="noStrike" kern="1200" baseline="0">
                    <a:solidFill>
                      <a:srgbClr val="0B1F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credit card</c:v>
                </c:pt>
                <c:pt idx="1">
                  <c:v>debit card</c:v>
                </c:pt>
                <c:pt idx="2">
                  <c:v>voucher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1.008</c:v>
                </c:pt>
                <c:pt idx="1">
                  <c:v>1.035</c:v>
                </c:pt>
                <c:pt idx="2">
                  <c:v>1.472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6213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6B7A9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fb522bc-d29f-4d83-974c-026e1ea6c18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1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12.xml"/><Relationship Id="rId1" Type="http://schemas.openxmlformats.org/officeDocument/2006/relationships/chart" Target="../charts/char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F4E8C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29B6D8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240280"/>
            <a:ext cx="2743200" cy="7980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</a:t>
            </a: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035808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Marketplace Performance Story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3858768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revenue, operations, and customer-retention review of the Brazilian marketplace dataset (2016–2018)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About Olist, and what this story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4F7FB"/>
          </a:solidFill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Olist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is a Brazilian tech unicorn and retail-as-a-service platform, founded in 2015 by Tiago Dalvi.
</a:t>
            </a:r>
            <a:r>
              <a:rPr lang="en-US" sz="1350" b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</a:t>
            </a: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Headquartered in Curitiba, Brazil
</a:t>
            </a:r>
            <a:r>
              <a:rPr lang="en-US" sz="1350" b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</a:t>
            </a: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Helps small and medium-sized businesses (SMBs) sell across major online marketplaces and digital channels
</a:t>
            </a:r>
            <a:r>
              <a:rPr lang="en-US" sz="1350" b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</a:t>
            </a: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this through a single, unified ecosystem — one dashboard for many marketplaces
</a:t>
            </a: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review is built on Olist's marketplace dataset, covering activity from </a:t>
            </a: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September 2016 through October 2018</a:t>
            </a: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0B1F3A"/>
          </a:solidFill>
        </p:spPr>
      </p:sp>
      <p:sp>
        <p:nvSpPr>
          <p:cNvPr id="8" name="Text 6"/>
          <p:cNvSpPr/>
          <p:nvPr/>
        </p:nvSpPr>
        <p:spPr>
          <a:xfrm>
            <a:off x="653796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We'll Explore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2331720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898648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898648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Seller performance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465576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3465576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reviews &amp; satisfaction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032504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4032504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performance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599432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4599432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5166360"/>
            <a:ext cx="548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5166360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&amp; retention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F4E8C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29B6D8"/>
          </a:solidFill>
        </p:spPr>
      </p:sp>
      <p:sp>
        <p:nvSpPr>
          <p:cNvPr id="4" name="Shape 2"/>
          <p:cNvSpPr/>
          <p:nvPr/>
        </p:nvSpPr>
        <p:spPr>
          <a:xfrm>
            <a:off x="1115568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5" name="Shape 3"/>
          <p:cNvSpPr/>
          <p:nvPr/>
        </p:nvSpPr>
        <p:spPr>
          <a:xfrm>
            <a:off x="1408176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6" name="Shape 4"/>
          <p:cNvSpPr/>
          <p:nvPr/>
        </p:nvSpPr>
        <p:spPr>
          <a:xfrm>
            <a:off x="1700784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7" name="Text 5"/>
          <p:cNvSpPr/>
          <p:nvPr/>
        </p:nvSpPr>
        <p:spPr>
          <a:xfrm>
            <a:off x="2130552" y="2249424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9B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Good News: Revenue &amp; Growth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8869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story begins with two years of steady growth, a healthy seller base, and pockets of real strength worth protecting.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2743200" cy="2660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</a:t>
            </a:r>
            <a:r>
              <a:rPr lang="en-US" sz="1600" b="1" dirty="0">
                <a:solidFill>
                  <a:srgbClr val="8FA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&amp; ORDERS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climbed steadily through the platform's first two full years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</p:spPr>
      </p:sp>
      <p:sp>
        <p:nvSpPr>
          <p:cNvPr id="5" name="Text 3"/>
          <p:cNvSpPr/>
          <p:nvPr/>
        </p:nvSpPr>
        <p:spPr>
          <a:xfrm>
            <a:off x="640080" y="1536192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R$16.01M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2016–2018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</p:spPr>
      </p:sp>
      <p:sp>
        <p:nvSpPr>
          <p:cNvPr id="9" name="Text 7"/>
          <p:cNvSpPr/>
          <p:nvPr/>
        </p:nvSpPr>
        <p:spPr>
          <a:xfrm>
            <a:off x="3474720" y="1536192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R$8.70M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474720" y="2121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2018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R$7.25M in 2017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</p:spPr>
      </p:sp>
      <p:sp>
        <p:nvSpPr>
          <p:cNvPr id="13" name="Text 11"/>
          <p:cNvSpPr/>
          <p:nvPr/>
        </p:nvSpPr>
        <p:spPr>
          <a:xfrm>
            <a:off x="6309360" y="1536192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R$160.99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309360" y="2121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Order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7FB"/>
          </a:solidFill>
        </p:spPr>
      </p:sp>
      <p:sp>
        <p:nvSpPr>
          <p:cNvPr id="17" name="Text 15"/>
          <p:cNvSpPr/>
          <p:nvPr/>
        </p:nvSpPr>
        <p:spPr>
          <a:xfrm>
            <a:off x="9144000" y="1536192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99,440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144000" y="2121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3774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2016–2018</a:t>
            </a:r>
            <a:endParaRPr lang="en-US" sz="10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02920" y="2926080"/>
          <a:ext cx="112014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22" name="Text 19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2016 (Sept–Dec) was a soft pilot launch; 2018 data ends in August — the Sep/Oct dip reflects the dataset's cutoff, not a business decline.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REVENUE COMES FROM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Six categories carry the marketplace — and one lags far behind the rest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9037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54480"/>
            <a:ext cx="4023360" cy="4434840"/>
          </a:xfrm>
          <a:prstGeom prst="roundRect">
            <a:avLst>
              <a:gd name="adj" fmla="val 2273"/>
            </a:avLst>
          </a:prstGeom>
          <a:solidFill>
            <a:srgbClr val="F4F7FB"/>
          </a:solidFill>
        </p:spPr>
      </p:sp>
      <p:sp>
        <p:nvSpPr>
          <p:cNvPr id="6" name="Text 3"/>
          <p:cNvSpPr/>
          <p:nvPr/>
        </p:nvSpPr>
        <p:spPr>
          <a:xfrm>
            <a:off x="7955280" y="1783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category story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347472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Sports, Toys &amp; Leisure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leads at R$1.58M, followed closely by </a:t>
            </a: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&amp; Furniture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which actually moves more units (29,480 vs. 27,155).
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Electronics, Construction/Arts, and Beauty round out the middle of the pack.
</a:t>
            </a:r>
            <a:r>
              <a:rPr lang="en-US" sz="1300" b="1" dirty="0">
                <a:solidFill>
                  <a:srgbClr val="C04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Fashion &amp; Accessories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closes the list — last in revenue (R$0.17M) and last in units sold (3,838, a fraction of every other category).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9" name="Text 6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Fashion's problem isn't pricing — it sells fewer units than every other category too. This points to a genuine demand gap, worth its own investigation.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COMPOSITION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96.3% of all revenue is already “in the books”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120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989320" y="1554480"/>
          <a:ext cx="5715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7" name="Text 3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1.7% of total revenue sits in canceled/unavailable orders — cancellations are a small revenue leak, but (as we'll see) a disproportionately loud operational and customer-experience problem.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LUCRATIVE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per seller isn't proportional to seller count — some small markets punch far above their weight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6751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554480"/>
            <a:ext cx="4251960" cy="4434840"/>
          </a:xfrm>
          <a:prstGeom prst="roundRect">
            <a:avLst>
              <a:gd name="adj" fmla="val 2151"/>
            </a:avLst>
          </a:prstGeom>
          <a:solidFill>
            <a:srgbClr val="F4F7FB"/>
          </a:solidFill>
        </p:spPr>
      </p:sp>
      <p:sp>
        <p:nvSpPr>
          <p:cNvPr id="6" name="Text 3"/>
          <p:cNvSpPr/>
          <p:nvPr/>
        </p:nvSpPr>
        <p:spPr>
          <a:xfrm>
            <a:off x="7726680" y="178308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26680" y="2240280"/>
            <a:ext cx="37033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Guariba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a single seller — generated R$495K, more than most cities with 5+ sellers.
</a:t>
            </a: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Lauro de Freitas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(2 sellers) and </a:t>
            </a:r>
            <a:r>
              <a:rPr lang="en-US" sz="13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Ilicínea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(1 seller) show the same pattern.
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suggests a product-market fit worth studying — replicate whatever these sellers are doing (product mix, pricing, niche demand) in other underperforming markets.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9" name="Text 6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is indirectly proportional to seller count in some cities — a 'lucrative product gap' opportunity for expansion, and a strong close to our good-news chapter.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C0455B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4" name="Shape 2"/>
          <p:cNvSpPr/>
          <p:nvPr/>
        </p:nvSpPr>
        <p:spPr>
          <a:xfrm>
            <a:off x="1115568" y="2331720"/>
            <a:ext cx="109728" cy="109728"/>
          </a:xfrm>
          <a:prstGeom prst="ellipse">
            <a:avLst/>
          </a:prstGeom>
          <a:solidFill>
            <a:srgbClr val="29B6D8"/>
          </a:solidFill>
        </p:spPr>
      </p:sp>
      <p:sp>
        <p:nvSpPr>
          <p:cNvPr id="5" name="Shape 3"/>
          <p:cNvSpPr/>
          <p:nvPr/>
        </p:nvSpPr>
        <p:spPr>
          <a:xfrm>
            <a:off x="1408176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6" name="Shape 4"/>
          <p:cNvSpPr/>
          <p:nvPr/>
        </p:nvSpPr>
        <p:spPr>
          <a:xfrm>
            <a:off x="1700784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7" name="Text 5"/>
          <p:cNvSpPr/>
          <p:nvPr/>
        </p:nvSpPr>
        <p:spPr>
          <a:xfrm>
            <a:off x="2130552" y="2249424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9B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TWO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8869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the harder part of the story: where the data shows real friction — starting with the single biggest one.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2743200" cy="2660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</a:t>
            </a:r>
            <a:r>
              <a:rPr lang="en-US" sz="1600" b="1" dirty="0">
                <a:solidFill>
                  <a:srgbClr val="8FA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96.9% of customers never place a second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206240" cy="4434840"/>
          </a:xfrm>
          <a:prstGeom prst="roundRect">
            <a:avLst>
              <a:gd name="adj" fmla="val 2174"/>
            </a:avLst>
          </a:prstGeom>
          <a:solidFill>
            <a:srgbClr val="FBEEEF"/>
          </a:solidFill>
        </p:spPr>
      </p:sp>
      <p:sp>
        <p:nvSpPr>
          <p:cNvPr id="5" name="Text 3"/>
          <p:cNvSpPr/>
          <p:nvPr/>
        </p:nvSpPr>
        <p:spPr>
          <a:xfrm>
            <a:off x="502920" y="20116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C0455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96.9%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customers order exactly once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3.12% place a 2nd order at all, and just 0.72% return in a later calendar year.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577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customer_unique_id (true person-level ID), not the order-level customer_id.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0" y="1554480"/>
          <a:ext cx="6675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BEEEF"/>
          </a:solidFill>
        </p:spPr>
      </p:sp>
      <p:sp>
        <p:nvSpPr>
          <p:cNvPr id="11" name="Text 8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single most important number in the deck: nearly every other problem in this section (reviews, product churn) is downstream of a one-and-done customer relationship.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SATISFACTION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in 7 reviews is negative — and satisfaction isn't evenly spread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554480"/>
          <a:ext cx="4937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55448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F4F7FB"/>
          </a:solidFill>
        </p:spPr>
      </p:sp>
      <p:sp>
        <p:nvSpPr>
          <p:cNvPr id="6" name="Text 3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drives each 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2286000"/>
            <a:ext cx="502920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4E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reviews (77.1%)
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Driven by stellar products and on-time delivery.
</a:t>
            </a:r>
            <a:r>
              <a:rPr lang="en-US" sz="1400" b="1" dirty="0">
                <a:solidFill>
                  <a:srgbClr val="B886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reviews (8.2%)
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arrived but didn't match the listing photo, or arrived with subpar packaging.
</a:t>
            </a:r>
            <a:r>
              <a:rPr lang="en-US" sz="1400" b="1" dirty="0">
                <a:solidFill>
                  <a:srgbClr val="C04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Bad reviews (14.7%)
</a:t>
            </a: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never arrived by the deadline, inferior quality, poor customer service, high shipping cost, or incomplete delivery.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BEEEF"/>
          </a:solidFill>
        </p:spPr>
      </p:sp>
      <p:sp>
        <p:nvSpPr>
          <p:cNvPr id="9" name="Text 6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reliability shows up as the common thread across both ends of the sentiment spectrum — more on this in Part Four.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LIFECYCLE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85% of products sell in only one year — almost nothing repeats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8580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BEEEF"/>
          </a:solidFill>
        </p:spPr>
      </p:sp>
      <p:sp>
        <p:nvSpPr>
          <p:cNvPr id="6" name="Text 3"/>
          <p:cNvSpPr/>
          <p:nvPr/>
        </p:nvSpPr>
        <p:spPr>
          <a:xfrm>
            <a:off x="7635240" y="1874520"/>
            <a:ext cx="4069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0455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85%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909560" y="2788920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the product catalog (27,755 of 32,789 products) sold in exactly one year and then vanished from sales.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09560" y="4206240"/>
            <a:ext cx="35204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than 0.5% of products (only 13) sold consistently across the first and last year of the dataset.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BEEEF"/>
          </a:solidFill>
        </p:spPr>
      </p:sp>
      <p:sp>
        <p:nvSpPr>
          <p:cNvPr id="10" name="Text 7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mirrors the customer-retention problem on the product side — the platform struggles to generate repeat demand for either customers or products.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E6FBA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4" name="Shape 2"/>
          <p:cNvSpPr/>
          <p:nvPr/>
        </p:nvSpPr>
        <p:spPr>
          <a:xfrm>
            <a:off x="1115568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5" name="Shape 3"/>
          <p:cNvSpPr/>
          <p:nvPr/>
        </p:nvSpPr>
        <p:spPr>
          <a:xfrm>
            <a:off x="1408176" y="2331720"/>
            <a:ext cx="109728" cy="109728"/>
          </a:xfrm>
          <a:prstGeom prst="ellipse">
            <a:avLst/>
          </a:prstGeom>
          <a:solidFill>
            <a:srgbClr val="29B6D8"/>
          </a:solidFill>
        </p:spPr>
      </p:sp>
      <p:sp>
        <p:nvSpPr>
          <p:cNvPr id="6" name="Shape 4"/>
          <p:cNvSpPr/>
          <p:nvPr/>
        </p:nvSpPr>
        <p:spPr>
          <a:xfrm>
            <a:off x="1700784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7" name="Text 5"/>
          <p:cNvSpPr/>
          <p:nvPr/>
        </p:nvSpPr>
        <p:spPr>
          <a:xfrm>
            <a:off x="2130552" y="2249424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9B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Root Causes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8869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the problems named, we turn to why they're happening — connecting each one back to what's actually driving it.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2743200" cy="2660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</a:t>
            </a:r>
            <a:r>
              <a:rPr lang="en-US" sz="1600" b="1" dirty="0">
                <a:solidFill>
                  <a:srgbClr val="8FA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DRIVES SATISFACTION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Delivery speed moves the needle; approval speed barely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bar shows the average star rating (0–5) for orders grouped by how long that stage took. The y-axis starts at 3, not 0, so the differences between groups are easier to read.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Time vs. Avg. Review Score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2331720"/>
          <a:ext cx="55321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49240"/>
            <a:ext cx="5532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it: as delivery stretches from ~2 days to a month, the average rating falls from 4.38 to 3.55 — a clear, steady decline. Speed is the single biggest lever we have on satisfaction.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309360" y="1965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Approval Time vs. Avg. Review Score</a:t>
            </a:r>
            <a:endParaRPr lang="en-US" sz="13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309360" y="2331720"/>
          <a:ext cx="54864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309360" y="5349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it: ratings barely move (4.10 to 4.01) even when approval takes over two days. On this same 3–5 scale, the bars are nearly flat — approval speed just isn't what customers are reacting to.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12" name="Text 8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can only fix one operational lever for satisfaction, fix delivery speed — approval-process improvements alone won't move review scores much.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CAUSE: CANCELLATIONS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fulfillment gap between approval and shipping is the core issue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841248"/>
          </a:xfrm>
          <a:prstGeom prst="roundRect">
            <a:avLst>
              <a:gd name="adj" fmla="val 6522"/>
            </a:avLst>
          </a:prstGeom>
          <a:solidFill>
            <a:srgbClr val="1F4E8C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Placed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625 orders · 100%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450592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141 lost here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65860" y="2697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2E6FBA"/>
          </a:solidFill>
        </p:spPr>
      </p:sp>
      <p:sp>
        <p:nvSpPr>
          <p:cNvPr id="9" name="Text 7"/>
          <p:cNvSpPr/>
          <p:nvPr/>
        </p:nvSpPr>
        <p:spPr>
          <a:xfrm>
            <a:off x="1165860" y="27889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Reached Approval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5860" y="310896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484 orders · 77%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4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409 lost here  —  largest drop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17420" y="379476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9FC1E8"/>
          </a:solidFill>
        </p:spPr>
      </p:sp>
      <p:sp>
        <p:nvSpPr>
          <p:cNvPr id="13" name="Text 11"/>
          <p:cNvSpPr/>
          <p:nvPr/>
        </p:nvSpPr>
        <p:spPr>
          <a:xfrm>
            <a:off x="2217420" y="388620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Reached Shipping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7420" y="42062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 orders · 12%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645152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69 lost here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489204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C0455B"/>
          </a:solidFill>
        </p:spPr>
      </p:sp>
      <p:sp>
        <p:nvSpPr>
          <p:cNvPr id="17" name="Text 15"/>
          <p:cNvSpPr/>
          <p:nvPr/>
        </p:nvSpPr>
        <p:spPr>
          <a:xfrm>
            <a:off x="2697480" y="49834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Reached Delivery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5303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orders · 1%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1600200"/>
            <a:ext cx="5166360" cy="4389120"/>
          </a:xfrm>
          <a:prstGeom prst="roundRect">
            <a:avLst>
              <a:gd name="adj" fmla="val 2083"/>
            </a:avLst>
          </a:prstGeom>
          <a:solidFill>
            <a:srgbClr val="F4F7FB"/>
          </a:solidFill>
        </p:spPr>
      </p:sp>
      <p:sp>
        <p:nvSpPr>
          <p:cNvPr id="20" name="Text 18"/>
          <p:cNvSpPr/>
          <p:nvPr/>
        </p:nvSpPr>
        <p:spPr>
          <a:xfrm>
            <a:off x="6812280" y="1783080"/>
            <a:ext cx="4617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caused each drop-off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12280" y="2194560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approval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441448"/>
            <a:ext cx="46177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7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Payment or fraud-verification checks failed before the order could be approved</a:t>
            </a:r>
            <a:endParaRPr lang="en-US" sz="97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7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 small number of orders flagged for wrong or defective items pre-fulfillment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6812280" y="318211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4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approval (never shipped)  (core issue)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3429000"/>
            <a:ext cx="46177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7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Item marked ‘out of stock’ only after purchase, despite showing as available</a:t>
            </a:r>
            <a:endParaRPr lang="en-US" sz="97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7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invoice issued, or invoice delayed well past the promised window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6812280" y="4169664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During shipping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4416552"/>
            <a:ext cx="46177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7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Carrier/postal delivery failures — incomplete address or name on file</a:t>
            </a:r>
            <a:endParaRPr lang="en-US" sz="97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7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refund issued after a failed delivery attempt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6812280" y="5157216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delivery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5404104"/>
            <a:ext cx="46177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7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Several of these 6 orders show a completed delivery AND a positive review — a likely status-mapping/data error, not a genuine late cancellation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BEEEF"/>
          </a:solidFill>
        </p:spPr>
      </p:sp>
      <p:sp>
        <p:nvSpPr>
          <p:cNvPr id="30" name="Text 28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65% of cancellations happen after approval but before shipping — an inventory/fulfillment-capacity gap, not a customer changing their mind. Suggested focus: seller-side stock accuracy and faster stock-out detection before approval, not after.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CAUSE: COMPLAINT BURDEN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Credit card customers carry the brunt of cancellation complaints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Type of Cancelled Orders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82880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63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Type Among 'Refund' Complaints</a:t>
            </a:r>
            <a:endParaRPr lang="en-US" sz="13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828800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4864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“I did not receive the product and I also did not get a refund.”  —  “I paid the invoice, but the item hasn't been shipped.”  —  “The store neither issued an invoice nor informed us if they had the product.”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10" name="Text 6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76% of refund complaints and 72% of invoice complaints on cancelled orders come from credit card customers — they're paying upfront and waiting the longest for resolution.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BEHAVIOR NOTE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Vouchers show discount-stacking, but aren't driving cancellations or bad reviews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6766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54480"/>
            <a:ext cx="4160520" cy="4434840"/>
          </a:xfrm>
          <a:prstGeom prst="roundRect">
            <a:avLst>
              <a:gd name="adj" fmla="val 2198"/>
            </a:avLst>
          </a:prstGeom>
          <a:solidFill>
            <a:srgbClr val="F4F7FB"/>
          </a:solidFill>
        </p:spPr>
      </p:sp>
      <p:sp>
        <p:nvSpPr>
          <p:cNvPr id="6" name="Text 3"/>
          <p:cNvSpPr/>
          <p:nvPr/>
        </p:nvSpPr>
        <p:spPr>
          <a:xfrm>
            <a:off x="7818120" y="1828800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1.47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818120" y="2697480"/>
            <a:ext cx="36118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voucher payments per order, vs. 1.01 for credit card — customers are stacking multiple discount vouchers on single orders.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18120" y="4206240"/>
            <a:ext cx="36118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signals aggressive discount-hunting behavior and creates lower immediate cash flow for the business compared to card payments — but it is not correlated with the cancellation or complaint patterns seen on the previous slides.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10" name="Text 7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Worth monitoring for cash-flow planning, but this is a separate thread from the fulfillment/refund issues — not a root cause of them.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6B7A99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4" name="Shape 2"/>
          <p:cNvSpPr/>
          <p:nvPr/>
        </p:nvSpPr>
        <p:spPr>
          <a:xfrm>
            <a:off x="1115568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5" name="Shape 3"/>
          <p:cNvSpPr/>
          <p:nvPr/>
        </p:nvSpPr>
        <p:spPr>
          <a:xfrm>
            <a:off x="1408176" y="2331720"/>
            <a:ext cx="109728" cy="109728"/>
          </a:xfrm>
          <a:prstGeom prst="ellipse">
            <a:avLst/>
          </a:prstGeom>
          <a:solidFill>
            <a:srgbClr val="2A3E5C"/>
          </a:solidFill>
        </p:spPr>
      </p:sp>
      <p:sp>
        <p:nvSpPr>
          <p:cNvPr id="6" name="Shape 4"/>
          <p:cNvSpPr/>
          <p:nvPr/>
        </p:nvSpPr>
        <p:spPr>
          <a:xfrm>
            <a:off x="1700784" y="2331720"/>
            <a:ext cx="109728" cy="109728"/>
          </a:xfrm>
          <a:prstGeom prst="ellipse">
            <a:avLst/>
          </a:prstGeom>
          <a:solidFill>
            <a:srgbClr val="29B6D8"/>
          </a:solidFill>
        </p:spPr>
      </p:sp>
      <p:sp>
        <p:nvSpPr>
          <p:cNvPr id="7" name="Text 5"/>
          <p:cNvSpPr/>
          <p:nvPr/>
        </p:nvSpPr>
        <p:spPr>
          <a:xfrm>
            <a:off x="2130552" y="2249424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29B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FOUR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 Questions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8869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every problem in this dataset has a clean answer yet — flagging what still needs investigation, honestly.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2743200" cy="2660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</a:t>
            </a:r>
            <a:r>
              <a:rPr lang="en-US" sz="1600" b="1" dirty="0">
                <a:solidFill>
                  <a:srgbClr val="8FA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50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UNRESOLVED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 products stop selling? Stockouts and bad reviews don't explain it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02920" y="1600200"/>
          <a:ext cx="685800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057400"/>
                <a:gridCol w="2057400"/>
              </a:tblGrid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Metric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Discontinued Products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(active only in 2017)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 Products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(baseline)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Avg. review score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4.06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4.09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Avg. delivery time (days)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11.7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11.5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‘Out of stock’ mentions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0.5%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434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12,155 products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470916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stopped selling after 2017 with no revenue in 2016 or 2018 — roughly 37% of the catalog.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680960" y="1600200"/>
            <a:ext cx="4023360" cy="4389120"/>
          </a:xfrm>
          <a:prstGeom prst="roundRect">
            <a:avLst>
              <a:gd name="adj" fmla="val 2273"/>
            </a:avLst>
          </a:prstGeom>
          <a:solidFill>
            <a:srgbClr val="F4F7FB"/>
          </a:solidFill>
        </p:spPr>
      </p:sp>
      <p:sp>
        <p:nvSpPr>
          <p:cNvPr id="8" name="Text 5"/>
          <p:cNvSpPr/>
          <p:nvPr/>
        </p:nvSpPr>
        <p:spPr>
          <a:xfrm>
            <a:off x="7955280" y="1828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conclusion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286000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metrics sit within noise of the platform-wide baseline. Stockouts and poor reviews do not explain why these products stopped selling.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4069080"/>
            <a:ext cx="3474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E6F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more likely explanation, given the retention and lifecycle findings elsewhere in this deck: a demand or repeat-purchase problem rather than a fulfillment one — worth a dedicated follow-up study.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59436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</p:spPr>
      </p:sp>
      <p:sp>
        <p:nvSpPr>
          <p:cNvPr id="12" name="Text 9"/>
          <p:cNvSpPr/>
          <p:nvPr/>
        </p:nvSpPr>
        <p:spPr>
          <a:xfrm>
            <a:off x="777240" y="594360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Flagging this honestly rather than forcing a conclusion the data doesn't support — recommend a targeted follow-up analysis.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F4E8C">
              <a:alpha val="3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29B6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to focus next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229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1874520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the fulfillment gap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08760" y="2258568"/>
            <a:ext cx="470916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65% of cancellations happen after approval, before shipping. Tighten seller-side inventory accuracy and pre-approval stock checks.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8229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60920" y="1874520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 in delivery speed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60920" y="2258568"/>
            <a:ext cx="470916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clearest lever on customer satisfaction — review scores drop from 4.38 to 3.55 as delivery stretches from 2 days to a month.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493008"/>
            <a:ext cx="8229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3493008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retention strategy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3877056"/>
            <a:ext cx="470916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96.9% of customers never return. Even a modest repeat-purchase program targets the platform's single biggest opportunity.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3493008"/>
            <a:ext cx="8229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60920" y="3493008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Replicate the 'lucrative gap'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60920" y="3877056"/>
            <a:ext cx="470916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Guariba, Lauro de Freitas, and similar small markets outperform on revenue-per-seller — study and scale what's working there.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111496"/>
            <a:ext cx="8229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08760" y="5111496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Resolve credit-card refund delays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5495544"/>
            <a:ext cx="470916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76% of refund complaints on cancelled orders come from credit card customers stuck waiting — a process fix, not a product fix.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5111496"/>
            <a:ext cx="8229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60920" y="5111496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Investigate product &amp; category churn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360920" y="5495544"/>
            <a:ext cx="470916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85% of products sell in only one year, and Fashion &amp; Accessories lags every category in both revenue and units — both need a dedicated follow-up study.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6108192"/>
            <a:ext cx="2743200" cy="232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9B6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</a:t>
            </a:r>
            <a:r>
              <a:rPr lang="en-US" sz="1400" b="1" dirty="0">
                <a:solidFill>
                  <a:srgbClr val="8FA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Olist Marketplace Performance Story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10347</Words>
  <Application>WPS Presentation</Application>
  <PresentationFormat>On-screen Show (16:9)</PresentationFormat>
  <Paragraphs>409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Lynette Wanja</cp:lastModifiedBy>
  <cp:revision>2</cp:revision>
  <dcterms:created xsi:type="dcterms:W3CDTF">2026-08-08T08:56:00Z</dcterms:created>
  <dcterms:modified xsi:type="dcterms:W3CDTF">2026-08-08T09:00:11Z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8F842DE556DC4DFD831FDCAD54CB048A_13</vt:lpwstr>
  </property>
  <property fmtid="{D5CDD505-2E9C-101B-9397-08002B2CF9AE}" pid="3" name="KSOProductBuildVer">
    <vt:lpwstr>1033-12.1.0.28032</vt:lpwstr>
  </property>
</Properties>
</file>